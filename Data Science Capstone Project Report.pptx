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score (10-fold)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K-Nearest
Neighbors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0.821</c:v>
                </c:pt>
                <c:pt idx="1">
                  <c:v>0.848</c:v>
                </c:pt>
                <c:pt idx="2">
                  <c:v>0.834</c:v>
                </c:pt>
                <c:pt idx="3">
                  <c:v>0.834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B3D9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K-Nearest
Neighbors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</c:v>
                </c:pt>
                <c:pt idx="1">
                  <c:v>0.833</c:v>
                </c:pt>
                <c:pt idx="2">
                  <c:v>0.722</c:v>
                </c:pt>
                <c:pt idx="3">
                  <c:v>0.833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2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1-jupyter-labs-spacex-data-collection-api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2-jupyter-labs-webscraping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3-labs-jupyter-spacex-Data-wrangling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4-edadataviz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5-jupyter-labs-eda-sql-coursera-sqllite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6-lab-jupyter-launch-site-location.ipynb" TargetMode="External"/><Relationship Id="rId2" Type="http://schemas.openxmlformats.org/officeDocument/2006/relationships/hyperlink" Target="https://github.com/aashkval/ibm-ds-ps-capstone-spacex/blob/main/spacex_dash_app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/blob/main/notebooks/5-jupyter-labs-eda-sql-coursera-sqllite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shkval/ibm-ds-ps-capstone-spacex/blob/main/notebooks/7-SpaceX-Machine-Learning-Prediction-Part-5.ipynb" TargetMode="Externa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shkval/ibm-ds-ps-capstone-space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B3D9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474720"/>
            <a:ext cx="3108960" cy="3108960"/>
          </a:xfrm>
          <a:prstGeom prst="ellipse">
            <a:avLst/>
          </a:prstGeom>
          <a:solidFill>
            <a:srgbClr val="FC3D2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</a:rPr>
              <a:t>IBM DATA SCIENCE PROFESSIONAL CERTIFICATE  ·  APPLIED DATA SCIENCE CAPSTONE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Falcon 9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First-Stage Landing Success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An end-to-end pipeline — data collection, EDA, interactive analytics, and machine-learning prediction of booster recovery.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5029200"/>
            <a:ext cx="457200" cy="4572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Oleksandr Shvydkyi</a:t>
            </a:r>
            <a:endParaRPr lang="en-US" sz="15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CADCF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Repository: github.com/aashkval/ibm-ds-ps-capstone-spacex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Executive summary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Methods and headline results at a glance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691640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83794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23760" y="1874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Introduction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Why first-stage recovery drives launch cost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72968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19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45920" y="33558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Methodology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Collection, wrangling, EDA, interactive analytics, modeling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3172968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172968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319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23760" y="33558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Results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SQL &amp; visual EDA, Folium map, Plotly Dash dashboard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654296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800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4592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Predictive analysis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Four classifiers compared; best model &amp; confusion matrix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4654296"/>
            <a:ext cx="5349240" cy="1280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654296"/>
            <a:ext cx="109728" cy="128016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800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2376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Conclusions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Insights and what they mean for a competitor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 and what we found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C3D21"/>
                </a:solidFill>
              </a:rPr>
              <a:t>Approach  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233"/>
                </a:solidFill>
              </a:rPr>
              <a:t>Collected Falcon 9 launch records from the SpaceX REST API and Wikipedia; wrangled them into a labelled dataset; explored the drivers of landing success with SQL and visualization; built an interactive Folium map and a Plotly Dash dashboard; and trained four classifiers to predict first-stage landing.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15544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3D21"/>
                </a:solidFill>
              </a:rPr>
              <a:t>Key findings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Landing success rises with flight experience and varies sharply by orbit and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KSC LC-39A is the most successful launch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All four models reach ~83% test accuracy; SVM leads on cross-validation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Landing — hence ~ launch cost — is predictable from public launch attributes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2651760" cy="1143000"/>
          </a:xfrm>
          <a:prstGeom prst="rect">
            <a:avLst/>
          </a:prstGeom>
          <a:solidFill>
            <a:srgbClr val="0B1C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51389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Falcon 9 launches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5074920"/>
            <a:ext cx="2651760" cy="1143000"/>
          </a:xfrm>
          <a:prstGeom prst="rect">
            <a:avLst/>
          </a:prstGeom>
          <a:solidFill>
            <a:srgbClr val="0B1C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51389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55848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ML models compared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5074920"/>
            <a:ext cx="2651760" cy="1143000"/>
          </a:xfrm>
          <a:prstGeom prst="rect">
            <a:avLst/>
          </a:prstGeom>
          <a:solidFill>
            <a:srgbClr val="0B1C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51389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63056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best test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70264" y="5074920"/>
            <a:ext cx="2651760" cy="1143000"/>
          </a:xfrm>
          <a:prstGeom prst="rect">
            <a:avLst/>
          </a:prstGeom>
          <a:solidFill>
            <a:srgbClr val="0B1C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0264" y="51389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70264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successful missions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2233"/>
                </a:solidFill>
              </a:rPr>
              <a:t>SpaceX advertises Falcon 9 launches at about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C3D21"/>
                </a:solidFill>
              </a:rPr>
              <a:t>$62M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2233"/>
                </a:solidFill>
              </a:rPr>
              <a:t>, against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C3D21"/>
                </a:solidFill>
              </a:rPr>
              <a:t>$165M+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2233"/>
                </a:solidFill>
              </a:rPr>
              <a:t> for competitors — largely because it recovers and reuses the first stage. Whether that stage lands successfully therefore drives a large share of the cost of a launch.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C3D21"/>
                </a:solidFill>
              </a:rPr>
              <a:t>Problem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2233"/>
                </a:solidFill>
              </a:rPr>
              <a:t>Given a planned launch (payload mass, target orbit, launch site, booster version, flight number, reuse history), can we predict whether the Falcon 9 first stage will land?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5B6770"/>
                </a:solidFill>
              </a:rPr>
              <a:t>A reliable prediction lets a competitor estimate the true cost of a launch and inform its bid.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600200"/>
            <a:ext cx="4114800" cy="42976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1C3D"/>
                </a:solidFill>
              </a:rPr>
              <a:t>COST OF A 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$62M</a:t>
            </a:r>
            <a:endParaRPr lang="en-US" sz="40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SpaceX Falcon 9 (reusable first stage)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80960" y="3611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C3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$165M+</a:t>
            </a:r>
            <a:endParaRPr lang="en-US" sz="400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</a:rPr>
              <a:t>Typical competitor (expendable)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680960" y="5029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3"/>
                </a:solidFill>
              </a:rPr>
              <a:t>The savings come from recovering the booster — so predicting the landing predicts the cost.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— SpaceX REST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GET /launches/past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94483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8531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Normalize JSON → DataFrame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9510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3558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Enrich rocket / payload / core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4538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28586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Filter to Falcon 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19565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3613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Impute PayloadMass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Issued a GET request to the SpaceX v4 API and flattened the JSON with pandas json_normalize.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Used identifier columns to fetch booster name, payload mass &amp; orbit, launch-site coordinates, and core/landing details.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Restricted to Falcon 9 and imputed missing PayloadMass with the column mean → 90 launches, 0 nulls.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669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notebooks/1 — data collection (API)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— web scraping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Request Wikipedia snapshot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94483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8531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Parse with BeautifulSoup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9510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3558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Extract table headers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4538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28586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Iterate rows → launch_dict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19565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3613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Build DataFrame → CSV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Requested a fixed Wikipedia snapshot (oldid 1027686922) of the Falcon 9 / Falcon Heavy launch list for reproducibility.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Parsed the launch table with BeautifulSoup, extracting column names from the headers and cell values row by row (with None-guards for missing links).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Assembled the records into a DataFrame → spacex_web_scraped.csv (121 rows).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669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notebooks/2 — web scraping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wrangling &amp; label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Count launches / orbits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94483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8531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Tabulate landing outcomes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9510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3558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Map 8 outcome strings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4538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28586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Derive Class (1/0)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19565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3613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Export dataset_part_2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Summarized launches per site and per orbit, then counted the eight textual landing outcomes (True/False/None × Ocean/RTLS/ASDS).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Created the binary training label Class — 1 when the booster landed successfully, 0 otherwise — by mapping the “bad” outcomes to 0.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Overall success rate in the dataset ≈ 0.67; result saved as dataset_part_2.csv.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669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notebooks/3 — data wrangling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with visualization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Scatter relationships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94483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3667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8531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Bar: success by orbit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9510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8694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3558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Line: yearly trend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4538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3722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28586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One-hot encode features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19565" y="16459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3D2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8749" y="1645920"/>
            <a:ext cx="19641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3D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3613" y="1645920"/>
            <a:ext cx="1854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233"/>
                </a:solidFill>
              </a:rPr>
              <a:t>Export dataset_part_3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Visualized landing outcome against flight number, payload mass, launch site and orbit (scatter), success rate by orbit (bar), and the success trend by year (line).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Engineered the model feature matrix: selected predictors and one-hot encoded Orbit, LaunchSite, LandingPad and Serial, casting all columns to float64.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Result: a fully numeric 90 × 80 matrix saved as dataset_part_3.csv.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669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notebooks/4 — EDA with visualization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with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233"/>
                </a:solidFill>
              </a:rPr>
              <a:t>Loaded the launch dataset into a SQLite table and answered ten analytical questions with SQL: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Unique launch sites; first records for sites beginning “CCA”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Total &amp; average payload mass (NASA CRS; booster F9 v1.1)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First successful ground-pad landing; boosters with success in 4,000–6,000 kg range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Counts of successful vs. failed missions; max-payload boosters (subquery)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</a:rPr>
              <a:t>2015 failed drone-ship landings by month; ranked landing outcomes 2010–2017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669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notebooks/5 — EDA with 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METHODOLOGY ·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analytics — Folium &amp; Dash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566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Folium 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Plotted all four launch sites with markers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Color-coded success / failure via MarkerCluster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Measured distances to coastline, railway, highway and city using a Haversine helper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35661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D"/>
                </a:solidFill>
              </a:rPr>
              <a:t>Plotly Dash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Dropdown to select all sites or one site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Pie chart of success share / per-site outcomes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</a:rPr>
              <a:t>Payload range slider with an outcome scatter colored by booster version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544068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56692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notebooks/6 — Folium 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5669280"/>
            <a:ext cx="544068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6692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spacex_dash_app.py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RESULTS ·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charts reveal</a:t>
            </a:r>
            <a:endParaRPr lang="en-US" sz="2800" dirty="0"/>
          </a:p>
        </p:txBody>
      </p:sp>
      <p:pic>
        <p:nvPicPr>
          <p:cNvPr id="4" name="Image 0" descr="img/eda7_yea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21" y="1600200"/>
            <a:ext cx="4608838" cy="2240280"/>
          </a:xfrm>
          <a:prstGeom prst="rect">
            <a:avLst/>
          </a:prstGeom>
        </p:spPr>
      </p:pic>
      <p:pic>
        <p:nvPicPr>
          <p:cNvPr id="5" name="Image 1" descr="img/eda4_orbit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261" y="1600200"/>
            <a:ext cx="4608838" cy="2240280"/>
          </a:xfrm>
          <a:prstGeom prst="rect">
            <a:avLst/>
          </a:prstGeom>
        </p:spPr>
      </p:pic>
      <p:pic>
        <p:nvPicPr>
          <p:cNvPr id="6" name="Image 2" descr="img/eda1_flight_pay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54" y="3977640"/>
            <a:ext cx="4250172" cy="2194560"/>
          </a:xfrm>
          <a:prstGeom prst="rect">
            <a:avLst/>
          </a:prstGeom>
        </p:spPr>
      </p:pic>
      <p:pic>
        <p:nvPicPr>
          <p:cNvPr id="7" name="Image 3" descr="img/eda6_payload_orb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34" y="3977640"/>
            <a:ext cx="4329693" cy="21945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0"/>
                </a:solidFill>
              </a:rPr>
              <a:t>Success climbs over time and with flight number; it is strongly orbit-dependent (ES-L1/GEO/HEO/SSO high) and best for lighter payloads.</a:t>
            </a:r>
            <a:endParaRPr lang="en-US" sz="1050" dirty="0"/>
          </a:p>
        </p:txBody>
      </p:sp>
      <p:sp>
        <p:nvSpPr>
          <p:cNvPr id="9" name="Text 3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RESULTS ·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query findings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Unique launch sites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CCAFS LC-40 · CCAFS SLC-40 · KSC LC-39A · VAFB SLC-4E (4)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Total payload mass — NASA (CRS) customers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45,596 kg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Average payload mass — booster F9 v1.1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2,928.4 kg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First successful ground-pad landing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2015-12-22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Successful vs. failed mission outcomes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100 successful · 1 failure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Boosters carrying the maximum payload (15,600 kg)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Starlink B5 cores (B1048/B1049/B1051/B1060 …)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Failed drone-ship landings in 2015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</a:rPr>
                        <a:t>2 (January &amp; April, CCAFS LC-40)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786384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59893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notebooks/5 — EDA with SQL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RESULTS · FOLIUM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Launch-site geography &amp; proximities</a:t>
            </a:r>
            <a:endParaRPr lang="en-US" sz="2800" dirty="0"/>
          </a:p>
        </p:txBody>
      </p:sp>
      <p:pic>
        <p:nvPicPr>
          <p:cNvPr id="4" name="Image 0" descr="img/folium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7460"/>
            <a:ext cx="5486400" cy="3503160"/>
          </a:xfrm>
          <a:prstGeom prst="rect">
            <a:avLst/>
          </a:prstGeom>
        </p:spPr>
      </p:pic>
      <p:pic>
        <p:nvPicPr>
          <p:cNvPr id="5" name="Image 1" descr="img/folium_proxim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170" y="1645920"/>
            <a:ext cx="542646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0"/>
                </a:solidFill>
              </a:rPr>
              <a:t>All sites sit on coasts at low latitude. For CCAFS LC-40: coastline 0.58 km, highway 0.66 km, railway 1.34 km, nearest city 18.06 km — close to transport, set back from population.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RESULTS · DASH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insights</a:t>
            </a:r>
            <a:endParaRPr lang="en-US" sz="2800" dirty="0"/>
          </a:p>
        </p:txBody>
      </p:sp>
      <p:pic>
        <p:nvPicPr>
          <p:cNvPr id="4" name="Image 0" descr="img/dash1_pie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38683"/>
            <a:ext cx="4114800" cy="3529274"/>
          </a:xfrm>
          <a:prstGeom prst="rect">
            <a:avLst/>
          </a:prstGeom>
        </p:spPr>
      </p:pic>
      <p:pic>
        <p:nvPicPr>
          <p:cNvPr id="5" name="Image 1" descr="img/dash3_payload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46516"/>
            <a:ext cx="4572000" cy="22221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72600" y="1828800"/>
            <a:ext cx="2331720" cy="393192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555480" y="2011680"/>
            <a:ext cx="2011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3D21"/>
                </a:solidFill>
              </a:rPr>
              <a:t>Most successful site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1C3D"/>
                </a:solidFill>
              </a:rPr>
              <a:t>KSC LC-39A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C3D21"/>
                </a:solidFill>
              </a:rPr>
              <a:t>Worst payload band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1C3D"/>
                </a:solidFill>
              </a:rPr>
              <a:t>6,000–8,000 kg → 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C3D21"/>
                </a:solidFill>
              </a:rPr>
              <a:t>Best booster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C3D"/>
                </a:solidFill>
              </a:rPr>
              <a:t>FT ≈ 67% success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PREDICTIVE ANALYSIS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four classifiers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474720" cy="42976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87452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C3D21"/>
                </a:solidFill>
              </a:rPr>
              <a:t>Setup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A2233"/>
                </a:solidFill>
              </a:rPr>
              <a:t>Standardized 80-feature matrix; 80/20 train-test split (random_state = 2); GridSearchCV with 10-fold CV per model.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C3D21"/>
                </a:solidFill>
              </a:rPr>
              <a:t>Read-out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</a:rPr>
              <a:t>Three of four models tie at 0.833 on the 18-sample test set. SVM has the highest cross-validation score (0.848).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6080760"/>
            <a:ext cx="731520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0807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91"/>
                </a:solidFill>
              </a:rPr>
              <a:t>🔗  </a:t>
            </a:r>
            <a:pPr indent="0" marL="0">
              <a:buNone/>
            </a:pPr>
            <a:r>
              <a:rPr lang="en-US" sz="1100" b="1" u="sng" dirty="0">
                <a:solidFill>
                  <a:srgbClr val="0B3D9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notebooks/7 — predictive modeling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3D21"/>
                </a:solidFill>
              </a:rPr>
              <a:t>PREDICTIVE ANALYSIS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 — confusion matrix</a:t>
            </a:r>
            <a:endParaRPr lang="en-US" sz="2800" dirty="0"/>
          </a:p>
        </p:txBody>
      </p:sp>
      <p:pic>
        <p:nvPicPr>
          <p:cNvPr id="4" name="Image 0" descr="img/ml2_confusion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20796"/>
            <a:ext cx="4937760" cy="33479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691640"/>
            <a:ext cx="5669280" cy="4206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D"/>
                </a:solidFill>
              </a:rPr>
              <a:t>Support Vector Machine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72200" y="2468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  true positives — landings predicted correctly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   true negatives — non-landings predicted correctly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3D21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   false positives — predicted landing, did not land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3703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3D21"/>
                </a:solidFill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   false negatives — none missed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43434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770"/>
                </a:solidFill>
              </a:rPr>
              <a:t>The model never misses an actual landing; its only errors are false alarms. Accuracy on the held-out set is 15 / 18 = 0.833.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572000" cy="4572000"/>
          </a:xfrm>
          <a:prstGeom prst="ellipse">
            <a:avLst/>
          </a:prstGeom>
          <a:solidFill>
            <a:srgbClr val="0B3D91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3D21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drives recovery, not payload size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910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Across the visual EDA, the dashboard and the four classifiers, the strongest signal for a successful landing is operational maturity — how far into the program and how proven the booster — rather than how heavy the payload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3502152" cy="109728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B1C3D"/>
                </a:solidFill>
              </a:rPr>
              <a:t>A learning curve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3"/>
                </a:solidFill>
              </a:rPr>
              <a:t>Landing success rises steadily with cumulative flight number and year — early failures give way to routine recoveries as the program matures.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331720"/>
            <a:ext cx="3502152" cy="109728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B1C3D"/>
                </a:solidFill>
              </a:rPr>
              <a:t>Payload is non-monotonic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3"/>
                </a:solidFill>
              </a:rPr>
              <a:t>The 6,000–8,000 kg band lands 0% of the time, while both lighter and some heavier payloads succeed — so payload mass alone is a poor predictor.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331720"/>
            <a:ext cx="3502152" cy="109728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606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B1C3D"/>
                </a:solidFill>
              </a:rPr>
              <a:t>The models concur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3"/>
                </a:solidFill>
              </a:rPr>
              <a:t>A linear SVM/LR tops the table (0.833); the axis-aligned decision tree trails (0.722). The signal is largely linearly separable — experience, site, booster — not a payload cutoff.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914400"/>
          </a:xfrm>
          <a:prstGeom prst="rect">
            <a:avLst/>
          </a:prstGeom>
          <a:solidFill>
            <a:srgbClr val="0B3D9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166360"/>
            <a:ext cx="128016" cy="914400"/>
          </a:xfrm>
          <a:prstGeom prst="rect">
            <a:avLst/>
          </a:prstGeom>
          <a:solidFill>
            <a:srgbClr val="FC3D2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Implication for a competitor 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weight booster generation, launch site and flight heritage above payload mass when estimating first-stage recovery — and the ~$100M cost gap each landing represents.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3D21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analysis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36776"/>
            <a:ext cx="384048" cy="384048"/>
          </a:xfrm>
          <a:prstGeom prst="ellipse">
            <a:avLst/>
          </a:prstGeom>
          <a:solidFill>
            <a:srgbClr val="FC3D2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Recovery is a learning curve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Landing success rose steadily year over year and with cumulative flight number — early failures gave way to routine recoveries.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384048" cy="384048"/>
          </a:xfrm>
          <a:prstGeom prst="ellipse">
            <a:avLst/>
          </a:prstGeom>
          <a:solidFill>
            <a:srgbClr val="FC3D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505456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 profile decides the odds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Success depends strongly on orbit type and payload mass; lighter payloads and orbits such as ES-L1, GEO, HEO and SSO land most reliably.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38728"/>
            <a:ext cx="384048" cy="384048"/>
          </a:xfrm>
          <a:prstGeom prst="ellipse">
            <a:avLst/>
          </a:prstGeom>
          <a:solidFill>
            <a:srgbClr val="FC3D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45643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Site &amp; booster matter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KSC LC-39A is the most successful site and the FT-generation boosters recover most often.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89704"/>
            <a:ext cx="384048" cy="384048"/>
          </a:xfrm>
          <a:prstGeom prst="ellipse">
            <a:avLst/>
          </a:prstGeom>
          <a:solidFill>
            <a:srgbClr val="FC3D2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40740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 works — with a caveat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Four classifiers reach ~83% test accuracy (SVM best on CV). With only 18 test samples the models are effectively tied; more data is needed to separate them.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384048" cy="384048"/>
          </a:xfrm>
          <a:prstGeom prst="ellipse">
            <a:avLst/>
          </a:prstGeom>
          <a:solidFill>
            <a:srgbClr val="FC3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535838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takeaway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Landing — and therefore the ~$100M cost gap per launch — can be predicted from public attributes, directly informing a competitor's bid.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IBM Data Science Capstone  ·  Falcon 9 First-Stage Landing Prediction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0B3D9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Full code, notebooks and data:</a:t>
            </a:r>
            <a:endParaRPr lang="en-US" sz="15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772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github.com/aashkval/ibm-ds-ps-capstone-spacex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Oleksandr Shvydkyi  ·  IBM Data Science Professional Certificate — Applied Data Science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First-Stage Landing Prediction</dc:title>
  <dc:subject>PptxGenJS Presentation</dc:subject>
  <dc:creator>Oleksandr Shvydkyi</dc:creator>
  <cp:lastModifiedBy>Oleksandr Shvydkyi</cp:lastModifiedBy>
  <cp:revision>1</cp:revision>
  <dcterms:created xsi:type="dcterms:W3CDTF">2026-06-06T00:05:36Z</dcterms:created>
  <dcterms:modified xsi:type="dcterms:W3CDTF">2026-06-06T00:05:36Z</dcterms:modified>
</cp:coreProperties>
</file>